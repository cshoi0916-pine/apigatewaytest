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F30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463040"/>
            <a:ext cx="8897112" cy="393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463040"/>
            <a:ext cx="8897112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828800"/>
            <a:ext cx="8897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API Gateway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645920" y="2971800"/>
            <a:ext cx="8897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8EA"/>
                </a:solidFill>
              </a:rPr>
              <a:t>Spring Cloud Gateway 기반 단일 진입점 아키텍처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3611880"/>
            <a:ext cx="5239512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840480"/>
            <a:ext cx="19202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Spring Cloud Gateway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3840480"/>
            <a:ext cx="768096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384048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Consul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466344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CAE"/>
                </a:solidFill>
              </a:rPr>
              <a:t>광역 데이터허브 (PINE) — API 관리 플랫폼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전체 아키텍처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Client → Gateway → 6개 백엔드 서비스 · 광역 데이터허브 (PINE)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146304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14630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60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12801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898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웹 브라우저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12801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299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모바일 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12801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700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외부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10128"/>
            <a:ext cx="12801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10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파트너사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383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:28081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2423160"/>
            <a:ext cx="502920" cy="27432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60120"/>
            <a:ext cx="237744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0" y="960120"/>
            <a:ext cx="237744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960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API Gateway (DH-APIGW)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77440" y="13898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apigw:28081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377440" y="1719072"/>
            <a:ext cx="2176272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1719072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단일 진입점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2468880"/>
            <a:ext cx="2176272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46888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라우팅 룰 관리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218688"/>
            <a:ext cx="2176272" cy="6217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3218688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로드밸런싱 (Consul)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3968496"/>
            <a:ext cx="2176272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96849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무중단 동적 라우팅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606040"/>
            <a:ext cx="502920" cy="27432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960120"/>
            <a:ext cx="347472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49240" y="960120"/>
            <a:ext cx="34747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960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Services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40680" y="1389888"/>
            <a:ext cx="3291840" cy="621792"/>
          </a:xfrm>
          <a:prstGeom prst="rect">
            <a:avLst/>
          </a:prstGeom>
          <a:solidFill>
            <a:srgbClr val="F4F8F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40680" y="1389888"/>
            <a:ext cx="91440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1426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DH-APIGW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96128" y="168249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apigw:28081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103120"/>
            <a:ext cx="3291840" cy="621792"/>
          </a:xfrm>
          <a:prstGeom prst="rect">
            <a:avLst/>
          </a:prstGeom>
          <a:solidFill>
            <a:srgbClr val="F4F8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40680" y="2103120"/>
            <a:ext cx="9144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21396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DH-DATAINGEST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96128" y="2395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dataingest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816352"/>
            <a:ext cx="3291840" cy="621792"/>
          </a:xfrm>
          <a:prstGeom prst="rect">
            <a:avLst/>
          </a:prstGeom>
          <a:solidFill>
            <a:srgbClr val="F4F8FC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40680" y="2816352"/>
            <a:ext cx="9144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DH-DATAMANAGER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96128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datamanager:8080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40680" y="3529584"/>
            <a:ext cx="3291840" cy="621792"/>
          </a:xfrm>
          <a:prstGeom prst="rect">
            <a:avLst/>
          </a:prstGeom>
          <a:solidFill>
            <a:srgbClr val="F4F8FC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40680" y="3529584"/>
            <a:ext cx="91440" cy="6217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96128" y="35661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DH-DATASERVICE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596128" y="382219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dataservice:18082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0680" y="4242816"/>
            <a:ext cx="3291840" cy="621792"/>
          </a:xfrm>
          <a:prstGeom prst="rect">
            <a:avLst/>
          </a:prstGeom>
          <a:solidFill>
            <a:srgbClr val="F4F8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40680" y="4242816"/>
            <a:ext cx="9144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96128" y="4279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DH-DATASERVICEBROKER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596128" y="453542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dataservicebroker:8082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40680" y="4956048"/>
            <a:ext cx="3291840" cy="621792"/>
          </a:xfrm>
          <a:prstGeom prst="rect">
            <a:avLst/>
          </a:prstGeom>
          <a:solidFill>
            <a:srgbClr val="F4F8FC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40680" y="4956048"/>
            <a:ext cx="91440" cy="621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96128" y="4992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DH-INGESTINTERFACE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596128" y="524865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ingestinterface:8084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052560" y="960120"/>
            <a:ext cx="2926080" cy="201168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052560" y="960120"/>
            <a:ext cx="292608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52560" y="960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Consul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05256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Service Discovery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189720" y="1801368"/>
            <a:ext cx="2651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서비스 자동 등록/해제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헬스체크 &amp; 장애 자동 제외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Round-Robin 로드밸런싱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052560" y="3154680"/>
            <a:ext cx="292608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052560" y="3154680"/>
            <a:ext cx="29260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52560" y="3154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관리 콘솔 UI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052560" y="3547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권한자 전용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144000" y="3858768"/>
            <a:ext cx="2743200" cy="384048"/>
          </a:xfrm>
          <a:prstGeom prst="rect">
            <a:avLst/>
          </a:prstGeom>
          <a:solidFill>
            <a:srgbClr val="F4F8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44000" y="3858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로그인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144000" y="4334256"/>
            <a:ext cx="2743200" cy="384048"/>
          </a:xfrm>
          <a:prstGeom prst="rect">
            <a:avLst/>
          </a:prstGeom>
          <a:solidFill>
            <a:srgbClr val="F4F8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44000" y="4334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서비스 관리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144000" y="4809744"/>
            <a:ext cx="2743200" cy="384048"/>
          </a:xfrm>
          <a:prstGeom prst="rect">
            <a:avLst/>
          </a:prstGeom>
          <a:solidFill>
            <a:srgbClr val="F4F8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44000" y="48097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라우팅 룰 관리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144000" y="5285232"/>
            <a:ext cx="2743200" cy="384048"/>
          </a:xfrm>
          <a:prstGeom prst="rect">
            <a:avLst/>
          </a:prstGeom>
          <a:solidFill>
            <a:srgbClr val="F4F8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44000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이력 조회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82880" y="5943600"/>
            <a:ext cx="87325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347472" y="60167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Client → :28081 단일 진입 → Gateway 라우팅 룰 매칭 → Consul에서 서비스 위치 조회 → 백엔드 전달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단일 진입점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Single Entry Point — 모든 요청이 Gateway를 통과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39496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39496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  — Gateway 없음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005840" cy="475488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Web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005840" cy="475488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Mobile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005840" cy="475488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03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1005840" cy="475488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파트너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1755648"/>
            <a:ext cx="1325880" cy="640080"/>
          </a:xfrm>
          <a:prstGeom prst="rect">
            <a:avLst/>
          </a:prstGeom>
          <a:solidFill>
            <a:srgbClr val="FFF0F0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7556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DATAINGEST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0" y="2852928"/>
            <a:ext cx="1325880" cy="640080"/>
          </a:xfrm>
          <a:prstGeom prst="rect">
            <a:avLst/>
          </a:prstGeom>
          <a:solidFill>
            <a:srgbClr val="FFF0F0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8529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DATAMANAGER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0" y="3950208"/>
            <a:ext cx="1325880" cy="640080"/>
          </a:xfrm>
          <a:prstGeom prst="rect">
            <a:avLst/>
          </a:prstGeom>
          <a:solidFill>
            <a:srgbClr val="FFF0F0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39502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DATASERVICE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508760" y="1984248"/>
            <a:ext cx="2697480" cy="201168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1984248"/>
            <a:ext cx="2697480" cy="1115568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08760" y="1984248"/>
            <a:ext cx="2697480" cy="2029968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08760" y="2670048"/>
            <a:ext cx="2697480" cy="-484632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8760" y="2670048"/>
            <a:ext cx="2697480" cy="429768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8760" y="2670048"/>
            <a:ext cx="2697480" cy="1344168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08760" y="3355848"/>
            <a:ext cx="2697480" cy="-1170432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08760" y="3355848"/>
            <a:ext cx="2697480" cy="-256032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08760" y="3355848"/>
            <a:ext cx="2697480" cy="658368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08760" y="4041648"/>
            <a:ext cx="2697480" cy="-1856232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08760" y="4041648"/>
            <a:ext cx="2697480" cy="-941832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08760" y="4041648"/>
            <a:ext cx="2697480" cy="-27432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07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문제점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✗  각 서비스마다 포트 개별 관리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49743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✗  URL 패턴 파편화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5266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✗  인증 로직 중복 구현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5559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✗  서비스 추가 시 클라이언트 수정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960120"/>
            <a:ext cx="562356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960120"/>
            <a:ext cx="562356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96012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AFTER  — API Gateway 적용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46520" y="1508760"/>
            <a:ext cx="100584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15087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Web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1645920"/>
            <a:ext cx="731520" cy="237744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6520" y="2194560"/>
            <a:ext cx="100584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2194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Mobile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98080" y="2331720"/>
            <a:ext cx="731520" cy="237744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46520" y="2880360"/>
            <a:ext cx="100584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28803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API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98080" y="3017520"/>
            <a:ext cx="731520" cy="237744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46520" y="3566160"/>
            <a:ext cx="100584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3566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파트너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98080" y="3703320"/>
            <a:ext cx="731520" cy="237744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21040" y="2057400"/>
            <a:ext cx="1371600" cy="1920240"/>
          </a:xfrm>
          <a:prstGeom prst="rect">
            <a:avLst/>
          </a:prstGeom>
          <a:solidFill>
            <a:srgbClr val="1A3A5C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321040" y="205740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:28081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058400" y="1755648"/>
            <a:ext cx="1554480" cy="64008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58400" y="17556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</a:rPr>
              <a:t>DATAINGEST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738360" y="1938528"/>
            <a:ext cx="274320" cy="237744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58400" y="2852928"/>
            <a:ext cx="1554480" cy="64008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58400" y="2852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</a:rPr>
              <a:t>DATAMANAGER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738360" y="3035808"/>
            <a:ext cx="274320" cy="237744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58400" y="3950208"/>
            <a:ext cx="1554480" cy="64008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58400" y="39502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</a:rPr>
              <a:t>DATASERVICE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738360" y="4133088"/>
            <a:ext cx="274320" cy="237744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46520" y="4407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효과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46520" y="46817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✓  단일 포트(28081) 진입점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46520" y="49743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✓  URL 패턴 통합 관리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446520" y="52669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✓  서비스 추가 시 Gateway만 수정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446520" y="55595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✓  인증/토큰 검증 중앙 처리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라우팅 룰 &amp; 서비스 구성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실제 등록된 서비스 6개 · 라우팅 룰 DB 관리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722376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24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등록된 라우팅 룰 (실제)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713232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898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서비스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3898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경로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1389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메소드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71323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737360"/>
            <a:ext cx="914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556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DH-APIGW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0" y="17556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/internal/token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1143000" cy="256032"/>
          </a:xfrm>
          <a:prstGeom prst="rect">
            <a:avLst/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783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-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2121408"/>
            <a:ext cx="7132320" cy="3657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21408"/>
            <a:ext cx="914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396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DH-DATAINGEST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286000" y="21396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/api/ingest/{dataModelId}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167128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1671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803D"/>
                </a:solidFill>
              </a:rPr>
              <a:t>POST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2505456"/>
            <a:ext cx="71323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505456"/>
            <a:ext cx="914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237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DH-DATAMANAGER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0" y="25237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/datamodels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551176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5511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0040" y="2889504"/>
            <a:ext cx="7132320" cy="3657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889504"/>
            <a:ext cx="914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077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DH-DATAMANAGER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286000" y="29077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/datamodels/{datamodelId}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2935224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935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0040" y="3273552"/>
            <a:ext cx="71323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273552"/>
            <a:ext cx="914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2918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DH-DATAMANAGER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0" y="3291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/datasets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319272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3192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3657600"/>
            <a:ext cx="7132320" cy="3657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657600"/>
            <a:ext cx="914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758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DH-DATAMANAGER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286000" y="3675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/datasets/{datasetId}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3703320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703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0040" y="4041648"/>
            <a:ext cx="71323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4041648"/>
            <a:ext cx="9144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0599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286000" y="40599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/entities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4087368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0873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040" y="4425696"/>
            <a:ext cx="7132320" cy="3657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4425696"/>
            <a:ext cx="9144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4439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286000" y="4443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/entities/{id}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17920" y="4471416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0" y="44714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20040" y="4809744"/>
            <a:ext cx="71323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4809744"/>
            <a:ext cx="9144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8280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286000" y="48280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/subscriptions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17920" y="4855464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0" y="4855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GET/POST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5193792"/>
            <a:ext cx="7132320" cy="3657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" y="5193792"/>
            <a:ext cx="9144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52120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2286000" y="5212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/subscriptions/{subscriptionId}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5239512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17920" y="52395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PATCH/DEL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20040" y="5577840"/>
            <a:ext cx="71323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" y="5577840"/>
            <a:ext cx="9144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55961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286000" y="5596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/temporal/entities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217920" y="5623560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17920" y="56235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20040" y="5961888"/>
            <a:ext cx="7132320" cy="3657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" y="5961888"/>
            <a:ext cx="9144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59801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286000" y="59801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/types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6007608"/>
            <a:ext cx="1143000" cy="256032"/>
          </a:xfrm>
          <a:prstGeom prst="rect">
            <a:avLst/>
          </a:prstGeom>
          <a:solidFill>
            <a:srgbClr val="FEF3C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17920" y="60076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57200" y="62910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+ 2페이지 추가 라우팅 룰 존재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726680" y="960120"/>
            <a:ext cx="41605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7726680" y="960120"/>
            <a:ext cx="41605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2668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서비스 등록 구조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86384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서비스 아이디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955548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86384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주소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95554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dataservice:18082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863840" y="2267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사용여부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555480" y="2267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 / 미사용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7863840" y="27066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관리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9555480" y="2706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콘솔 UI 등록/수정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7726680" y="3520440"/>
            <a:ext cx="4160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7726680" y="3520440"/>
            <a:ext cx="41605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26680" y="35204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라우팅 룰 관리 흐름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7772400" y="3950208"/>
            <a:ext cx="201168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046720" y="39502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콘솔 UI에서 등록/수정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0104120" y="39502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관리자가 경로·서비스 지정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7772400" y="4361688"/>
            <a:ext cx="201168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46720" y="43616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Gateway 즉시 반영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0104120" y="43616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재시작 없이 0ms 적용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7772400" y="4773168"/>
            <a:ext cx="201168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046720" y="47731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Consul 연동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0104120" y="47731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서비스 위치 자동 조회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7726680" y="5376672"/>
            <a:ext cx="416052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7726680" y="5376672"/>
            <a:ext cx="1993392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726680" y="53766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9765792" y="53766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yml 정의 · 재시작 필요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726680" y="5806440"/>
            <a:ext cx="1993392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726680" y="5806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9765792" y="58064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API 등록 → Redis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무중단 즉시 반영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서비스 디스커버리 — Eureka 대안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Eureka 유지보수 중단 → 4가지 대안 검토 → Consul 선택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566928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⚠  Netflix Eureka — 2018년 유지보수 중단 · Spring Cloud에서 deprecated 경고 · 장기 운영 리스크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1164031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비교 항목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6002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Static LB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6002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Zookeeper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6002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Nacos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960" y="1600200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Consul 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084832"/>
            <a:ext cx="1164031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084832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유지보수 상태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97480" y="20848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없음 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20848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활발 △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12280" y="20848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활발 △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69680" y="2157984"/>
            <a:ext cx="292608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1579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활발 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11640312" cy="53035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65176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Spring Cloud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공식 지원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97480" y="26517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기본 △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26517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있음 △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12280" y="26517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공식 ✓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869680" y="2724912"/>
            <a:ext cx="292608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27249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공식 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218688"/>
            <a:ext cx="1164031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218688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헬스체크 자동화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97480" y="32186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없음 ✗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2186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없음 ✗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12280" y="32186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내장 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69680" y="3291840"/>
            <a:ext cx="292608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291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내장 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85616"/>
            <a:ext cx="11640312" cy="53035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78561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KV Store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(설정 관리)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97480" y="37856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없음 ✗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37856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있음 △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12280" y="37856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있음 ✓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869680" y="3858768"/>
            <a:ext cx="292608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0" y="38587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있음 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352544"/>
            <a:ext cx="1164031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435254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설치/운영 복잡도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97480" y="435254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낮음 ✓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435254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높음 ✗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12280" y="435254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중간 △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869680" y="4425696"/>
            <a:ext cx="292608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0" y="44256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낮음 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919472"/>
            <a:ext cx="11640312" cy="53035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919472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한국 레퍼런스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697480" y="49194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많음 ✓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54880" y="49194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적음 △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812280" y="49194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중국 중심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869680" y="4992624"/>
            <a:ext cx="292608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69680" y="49926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풍부 ✓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5486400"/>
            <a:ext cx="1164031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548640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쿠버네티스 불필요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697480" y="54864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가능 ✓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754880" y="54864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가능 ✓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812280" y="54864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가능 ✓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869680" y="5559552"/>
            <a:ext cx="292608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69680" y="5559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가능 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778240" y="6016752"/>
            <a:ext cx="3108960" cy="65836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8823960" y="60167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Consul 선택 이유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낮은 복잡도 · 공식 지원 · 풍부한 레퍼런스 · KV Store 포함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로드밸런싱 — Consul 동작 방식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Round-Robin 자동 분산 · 헬스체크 · 서비스 자동 등록/해제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24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Consul 로드밸런싱 동작 흐름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182880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463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클라이언트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요청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58568" y="1737360"/>
            <a:ext cx="109728" cy="27432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463040"/>
            <a:ext cx="201168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1463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apigw:28081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07408" y="1737360"/>
            <a:ext cx="109728" cy="27432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463040"/>
            <a:ext cx="1828800" cy="868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1463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Consul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192024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4630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DH-DATASERVICE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:18082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41080" y="1463040"/>
            <a:ext cx="192024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41080" y="14630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DH-DATAMANAGER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:8080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652760" y="1463040"/>
            <a:ext cx="1920240" cy="8686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652760" y="14630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DH-DATAINGEST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(동적)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73952" y="1737360"/>
            <a:ext cx="91440" cy="27432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2377440"/>
            <a:ext cx="0" cy="4114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537960" y="2788920"/>
            <a:ext cx="6080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2618720" y="2377440"/>
            <a:ext cx="0" cy="4114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869680" y="2816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Round-Robin 순차 분산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동작 단계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3375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① 서비스 시작 → Consul에 자동 등록 (서비스 ID + 주소 + 포트)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685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② Gateway가 Consul에서 인스턴스 목록 조회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032504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③ Round-Robin으로 요청 순차 분산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379976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④ 헬스체크 실패 인스턴스 자동 제외 — 수동 개입 불필요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074920"/>
            <a:ext cx="34747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5074920"/>
            <a:ext cx="347472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074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자동 등록/해제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5458968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서비스 시작/종료 시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Consul이 자동 반영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15968" y="5074920"/>
            <a:ext cx="34747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15968" y="5074920"/>
            <a:ext cx="347472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5074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장애 자동 제외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53128" y="5458968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헬스체크 실패 시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라우팅 대상에서 제거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74736" y="5074920"/>
            <a:ext cx="34747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74736" y="5074920"/>
            <a:ext cx="347472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4736" y="5074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하드코딩 제거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11896" y="5458968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IP/포트를 코드에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직접 명시 불필요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무중단 서비스 (동적 라우팅)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RouteDefinitionWriter + RefreshRoutesEvent — 재시작 없이 즉시 반영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39496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39496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  — 재시작 필요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45720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481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application.yml 수정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라우트 설정을 파일에서 직접 편집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182880" cy="292608"/>
          </a:xfrm>
          <a:prstGeom prst="rightArrow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78608"/>
            <a:ext cx="45720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5786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서버 재시작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880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Gateway 전체 프로세스 재시작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182880" cy="292608"/>
          </a:xfrm>
          <a:prstGeom prst="rightArrow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75888"/>
            <a:ext cx="45720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6758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다운타임 발생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9776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재시작 중 모든 요청 실패 (수~수십 초)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82880" cy="292608"/>
          </a:xfrm>
          <a:prstGeom prst="rightArrow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773168"/>
            <a:ext cx="45720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47731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확인 및 롤백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문제 시 yml 재수정 후 재시작 반복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960120"/>
            <a:ext cx="548640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960120"/>
            <a:ext cx="548640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960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AFTER  — 무중단 즉시 적용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37960" y="1481328"/>
            <a:ext cx="4572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14813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콘솔 UI에서 라우트 등록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17830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서비스 아이디 + API 경로 + 메소드 입력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75120" y="1965960"/>
            <a:ext cx="182880" cy="292608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2578608"/>
            <a:ext cx="4572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6600" y="25786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라우팅 정의 즉시 저장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2880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RouteDefinitionWriter → 라우트 정의 영속 저장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75120" y="3063240"/>
            <a:ext cx="182880" cy="292608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3675888"/>
            <a:ext cx="4572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86600" y="36758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RefreshRoutesEvent 발행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86600" y="39776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ApplicationContext 이벤트 → 즉시 반영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75120" y="4160520"/>
            <a:ext cx="182880" cy="292608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4773168"/>
            <a:ext cx="4572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86600" y="47731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무중단 완료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86600" y="5074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0ms 다운타임 · 기존 요청 영향 없음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92240" y="5166360"/>
            <a:ext cx="5257800" cy="1024128"/>
          </a:xfrm>
          <a:prstGeom prst="rect">
            <a:avLst/>
          </a:prstGeom>
          <a:solidFill>
            <a:srgbClr val="F4F8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5230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핵심 기술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83680" y="5532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RouteDefinitionWriter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006840" y="5532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라우트 추가/삭제 인터페이스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83680" y="5806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RefreshRoutesEvent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006840" y="5806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라우트 갱신 이벤트 트리거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83680" y="6080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ApplicationReadyEvent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006840" y="6080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시작 시 등록 라우트 자동 복구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577840" y="2788920"/>
            <a:ext cx="73152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77840" y="2788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관리 콘솔 UI — 로그인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권한 있는 관리자만 접근 가능 · 무단 접근 차단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1640312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33272"/>
            <a:ext cx="146304" cy="146304"/>
          </a:xfrm>
          <a:prstGeom prst="rect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033272"/>
            <a:ext cx="146304" cy="146304"/>
          </a:xfrm>
          <a:prstGeom prst="rect">
            <a:avLst/>
          </a:prstGeom>
          <a:solidFill>
            <a:srgbClr val="00AA00"/>
          </a:solidFill>
          <a:ln w="12700">
            <a:solidFill>
              <a:srgbClr val="00A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033272"/>
            <a:ext cx="146304" cy="14630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0058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http://gateway-console:3000/login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554480" cy="5257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APIGW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콘솔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99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서비스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라우팅 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93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API 요청 이력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443984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4398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접속 이력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5248656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2486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서킷브레이크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1298448"/>
            <a:ext cx="9921240" cy="5239512"/>
          </a:xfrm>
          <a:prstGeom prst="rect">
            <a:avLst/>
          </a:prstGeom>
          <a:solidFill>
            <a:srgbClr val="F0F4F8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169164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77640" y="1691640"/>
            <a:ext cx="512064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169164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Gateway 관리 콘솔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77640" y="23042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광역 데이터허브 (PINE)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27249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관리자 아이디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3017520"/>
            <a:ext cx="466344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0175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pinecni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0" y="3566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비밀번호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3858768"/>
            <a:ext cx="466344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8587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••••••••••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06240" y="4462272"/>
            <a:ext cx="466344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446227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로그인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206240" y="5047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⚠  권한 없는 접근은 차단됩니다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372600" y="1691640"/>
            <a:ext cx="2331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372600" y="1691640"/>
            <a:ext cx="23317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접근 제어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464040" y="2148840"/>
            <a:ext cx="2148840" cy="1143000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64040" y="21945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464040" y="263347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관리자 계정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로그인 필수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464040" y="3447288"/>
            <a:ext cx="2148840" cy="1143000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64040" y="34930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464040" y="393192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서비스 · 라우팅 룰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등록 · 수정 · 삭제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4040" y="4745736"/>
            <a:ext cx="2148840" cy="1143000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64040" y="47914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464040" y="5230368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API 요청 이력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접속 이력 조회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관리 콘솔 UI — 서비스 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백엔드 서비스 등록 · 주소 관리 · 사용 여부 제어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1640312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33272"/>
            <a:ext cx="146304" cy="146304"/>
          </a:xfrm>
          <a:prstGeom prst="rect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033272"/>
            <a:ext cx="146304" cy="146304"/>
          </a:xfrm>
          <a:prstGeom prst="rect">
            <a:avLst/>
          </a:prstGeom>
          <a:solidFill>
            <a:srgbClr val="00AA00"/>
          </a:solidFill>
          <a:ln w="12700">
            <a:solidFill>
              <a:srgbClr val="00A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033272"/>
            <a:ext cx="146304" cy="14630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0058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http://gateway-console:3000/api-gateway/services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554480" cy="5257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APIGW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콘솔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155448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99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서비스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라우팅 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93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API 요청 이력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443984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4398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접속 이력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5248656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2486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서킷브레이크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1298448"/>
            <a:ext cx="9921240" cy="52395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1389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서비스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378440" y="1435608"/>
            <a:ext cx="1371600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78440" y="1435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등록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65960" y="1828800"/>
            <a:ext cx="9829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1828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서비스 아이디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7680" y="1828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서비스 명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0" y="18288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주소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78240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사용여부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149840" y="18288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65960" y="2212848"/>
            <a:ext cx="9829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0" y="224942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DH-APIGW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97680" y="224942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DH-APIGW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0" y="2249424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apigw:28081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778240" y="2286000"/>
            <a:ext cx="1234440" cy="29260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0" y="22860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사용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149840" y="2249424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⋮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965960" y="2743200"/>
            <a:ext cx="982980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0" y="277977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DH-DATAINGEST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297680" y="277977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DH-DATAINGEST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83680" y="2779776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dataingest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778240" y="2816352"/>
            <a:ext cx="1234440" cy="29260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사용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149840" y="2779776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⋮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965960" y="3273552"/>
            <a:ext cx="9829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3310128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DH-DATAMANAGER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297680" y="3310128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DH-DATAMANAGER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83680" y="3310128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datamanager:8080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778240" y="3346704"/>
            <a:ext cx="1234440" cy="29260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78240" y="3346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사용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149840" y="3310128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⋮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965960" y="3803904"/>
            <a:ext cx="982980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0" y="3840480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297680" y="3840480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DH-DATASERVICE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583680" y="3840480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dataservice:18082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778240" y="3877056"/>
            <a:ext cx="1234440" cy="29260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78240" y="3877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사용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149840" y="3840480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⋮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965960" y="4334256"/>
            <a:ext cx="9829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11680" y="437083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DH-DATASERVICEBROKER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297680" y="437083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DH-DATASERVICEBROKER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583680" y="43708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dataservicebroker:8082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778240" y="4407408"/>
            <a:ext cx="1234440" cy="29260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7824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사용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0149840" y="4370832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⋮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965960" y="4864608"/>
            <a:ext cx="982980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11680" y="490118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DH-INGESTINTERFACE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297680" y="490118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DH-INGESTINTERFACE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583680" y="4901184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ingestinterface:8084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778240" y="4937760"/>
            <a:ext cx="1234440" cy="29260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778240" y="4937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사용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10149840" y="4901184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⋮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965960" y="5413248"/>
            <a:ext cx="9829800" cy="3474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965960" y="5413248"/>
            <a:ext cx="9829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</a:rPr>
              <a:t>&lt; 1 &gt;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965960" y="5833872"/>
            <a:ext cx="9829800" cy="320040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57400" y="5833872"/>
            <a:ext cx="9646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등록 · 수정 · 삭제 가능  |  등록 즉시 Gateway 라우팅 대상에 포함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관리 콘솔 UI — 서비스 등록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서비스 아이디 · 통신 방법 · 주소 입력 후 즉시 Gateway 대상 추가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1640312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33272"/>
            <a:ext cx="146304" cy="146304"/>
          </a:xfrm>
          <a:prstGeom prst="rect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033272"/>
            <a:ext cx="146304" cy="146304"/>
          </a:xfrm>
          <a:prstGeom prst="rect">
            <a:avLst/>
          </a:prstGeom>
          <a:solidFill>
            <a:srgbClr val="00AA00"/>
          </a:solidFill>
          <a:ln w="12700">
            <a:solidFill>
              <a:srgbClr val="00A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033272"/>
            <a:ext cx="146304" cy="14630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0058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http://gateway-console:3000/api-gateway/services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554480" cy="5257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APIGW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콘솔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155448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99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서비스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라우팅 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93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API 요청 이력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443984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4398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접속 이력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5248656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2486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서킷브레이크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1298448"/>
            <a:ext cx="9921240" cy="52395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3240" y="1600200"/>
            <a:ext cx="65836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63240" y="1600200"/>
            <a:ext cx="658368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160020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서비스 추가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35440" y="16002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서비스 아이디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2532888"/>
            <a:ext cx="3017520" cy="347472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25328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서비스 아이디를 입력하세요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서비스 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2532888"/>
            <a:ext cx="3017520" cy="347472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25328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서비스 명을 입력하세요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통신 방법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3721608"/>
            <a:ext cx="3017520" cy="347472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3721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선택  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주소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92240" y="3721608"/>
            <a:ext cx="3017520" cy="347472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3721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주소를 입력하세요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0" y="4617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설명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0" y="4910328"/>
            <a:ext cx="3017520" cy="347472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73552" y="4910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설명을 입력하세요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4617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사용여부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92240" y="4910328"/>
            <a:ext cx="1280160" cy="347472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4910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● 사용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321040" y="6126480"/>
            <a:ext cx="11887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6126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저장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86600" y="6126480"/>
            <a:ext cx="1143000" cy="292608"/>
          </a:xfrm>
          <a:prstGeom prst="rect">
            <a:avLst/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86600" y="61264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취소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965960" y="6291072"/>
            <a:ext cx="9829800" cy="320040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6291072"/>
            <a:ext cx="9646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저장 즉시 Consul 등록 대상에 포함 · Gateway 라우팅 반영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관리 콘솔 UI — 라우팅 룰 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서비스별 API 경로 등록 · 무중단 즉시 반영 · 전체 전파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1640312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33272"/>
            <a:ext cx="146304" cy="146304"/>
          </a:xfrm>
          <a:prstGeom prst="rect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033272"/>
            <a:ext cx="146304" cy="146304"/>
          </a:xfrm>
          <a:prstGeom prst="rect">
            <a:avLst/>
          </a:prstGeom>
          <a:solidFill>
            <a:srgbClr val="00AA00"/>
          </a:solidFill>
          <a:ln w="12700">
            <a:solidFill>
              <a:srgbClr val="00A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033272"/>
            <a:ext cx="146304" cy="14630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0058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http://gateway-console:3000/api-gateway/routing-rules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554480" cy="5257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APIGW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콘솔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99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서비스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55448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라우팅 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93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API 요청 이력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443984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4398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접속 이력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5248656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2486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서킷브레이크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1298448"/>
            <a:ext cx="9921240" cy="52395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1389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라우팅 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58200" y="1435608"/>
            <a:ext cx="1755648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14356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라우팅룰 전파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259568" y="1435608"/>
            <a:ext cx="1508760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59568" y="14356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등록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965960" y="1801368"/>
            <a:ext cx="982980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18013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라우팅 룰 아이디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06240" y="1801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 경로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95160" y="1801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메소드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046720" y="18013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서비스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875520" y="18013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사용여부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881360" y="18013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65960" y="2157984"/>
            <a:ext cx="9829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2176272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SVC-APIGW-TOKEN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06240" y="2176272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/internal/token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95160" y="2203704"/>
            <a:ext cx="960120" cy="274320"/>
          </a:xfrm>
          <a:prstGeom prst="rect">
            <a:avLst/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22037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-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046720" y="2176272"/>
            <a:ext cx="1783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DH-APIGW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875520" y="2203704"/>
            <a:ext cx="91440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75520" y="2203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사용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881360" y="2176272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⋮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965960" y="2596896"/>
            <a:ext cx="9829800" cy="4114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2615184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SVC-DATAINGEST-...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06240" y="2615184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/api/ingest/{dataModelId}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95160" y="2642616"/>
            <a:ext cx="96012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26426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803D"/>
                </a:solidFill>
              </a:rPr>
              <a:t>POST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046720" y="2615184"/>
            <a:ext cx="1783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DH-DATAINGEST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875520" y="2642616"/>
            <a:ext cx="91440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75520" y="2642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사용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881360" y="2615184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⋮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965960" y="3035808"/>
            <a:ext cx="9829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0" y="3054096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SVC-DATAMANAG-1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206240" y="3054096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/datamodels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95160" y="3081528"/>
            <a:ext cx="96012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3081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046720" y="3054096"/>
            <a:ext cx="1783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DH-DATAMANAGER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875520" y="3081528"/>
            <a:ext cx="91440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75520" y="3081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사용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881360" y="3054096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⋮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965960" y="3474720"/>
            <a:ext cx="9829800" cy="4114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0" y="3493008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SVC-DATAMANAG-2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06240" y="3493008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/datamodels/{datamodelId}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995160" y="3520440"/>
            <a:ext cx="96012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95160" y="3520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046720" y="3493008"/>
            <a:ext cx="1783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DH-DATAMANAGER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875520" y="3520440"/>
            <a:ext cx="91440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87552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사용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0881360" y="349300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⋮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965960" y="3913632"/>
            <a:ext cx="9829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011680" y="3931920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SVC-DATAMANAG-3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206240" y="3931920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/datasets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995160" y="3959352"/>
            <a:ext cx="96012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95160" y="39593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046720" y="3931920"/>
            <a:ext cx="1783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DH-DATAMANAGER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9875520" y="3959352"/>
            <a:ext cx="91440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0" y="3959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사용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0881360" y="3931920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⋮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965960" y="4352544"/>
            <a:ext cx="9829800" cy="4114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011680" y="4370832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SVC-DATASVC-1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206240" y="4370832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/entities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995160" y="4398264"/>
            <a:ext cx="96012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95160" y="43982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8046720" y="4370832"/>
            <a:ext cx="1783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875520" y="4398264"/>
            <a:ext cx="91440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875520" y="4398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사용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0881360" y="4370832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⋮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965960" y="4791456"/>
            <a:ext cx="9829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011680" y="4809744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SVC-DATASVC-2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206240" y="4809744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/subscriptions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995160" y="4837176"/>
            <a:ext cx="96012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95160" y="48371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GET/POST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8046720" y="4809744"/>
            <a:ext cx="1783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9875520" y="4837176"/>
            <a:ext cx="91440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875520" y="4837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사용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0881360" y="4809744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⋮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965960" y="5230368"/>
            <a:ext cx="9829800" cy="4114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011680" y="5248656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SVC-DATASVC-3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206240" y="5248656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/temporal/entities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995160" y="5276088"/>
            <a:ext cx="96012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95160" y="5276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GET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8046720" y="5248656"/>
            <a:ext cx="1783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DH-DATASERVICE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9875520" y="5276088"/>
            <a:ext cx="91440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875520" y="5276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사용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10881360" y="5248656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⋮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1965960" y="5715000"/>
            <a:ext cx="9829800" cy="292608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965960" y="5715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&lt; 1  2 &gt;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1965960" y="6053328"/>
            <a:ext cx="9829800" cy="475488"/>
          </a:xfrm>
          <a:prstGeom prst="rect">
            <a:avLst/>
          </a:prstGeom>
          <a:solidFill>
            <a:srgbClr val="F4F8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057400" y="6053328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라우팅룰 전파 버튼: 등록된 모든 MANUAL 라우트를 Gateway에 즉시 반영  |  등록 즉시 저장 → RefreshRoutesEvent 발행 → 무중단 적용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관리 콘솔 UI — 라우팅 룰 등록/수정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경로·메소드 설정 후 저장 → 무중단 즉시 반영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1640312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33272"/>
            <a:ext cx="146304" cy="146304"/>
          </a:xfrm>
          <a:prstGeom prst="rect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033272"/>
            <a:ext cx="146304" cy="146304"/>
          </a:xfrm>
          <a:prstGeom prst="rect">
            <a:avLst/>
          </a:prstGeom>
          <a:solidFill>
            <a:srgbClr val="00AA00"/>
          </a:solidFill>
          <a:ln w="12700">
            <a:solidFill>
              <a:srgbClr val="00A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033272"/>
            <a:ext cx="146304" cy="14630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0058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http://gateway-console:3000/api-gateway/routing-rules/edit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554480" cy="5257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APIGW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콘솔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99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서비스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55448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라우팅 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93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API 요청 이력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443984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4398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접속 이력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5248656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2486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서킷브레이크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1298448"/>
            <a:ext cx="9921240" cy="52395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87000" y="1344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목록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287000" y="1490472"/>
            <a:ext cx="14630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1664208"/>
            <a:ext cx="9921240" cy="292608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라우팅 룰 상세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20574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아이디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0" y="2313432"/>
            <a:ext cx="438912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231343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SVC-APIGW-TOKEN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26974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대상 서비스 아이디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0" y="2953512"/>
            <a:ext cx="438912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84832" y="295351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DH-APIGW  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33375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메소드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011680" y="3593592"/>
            <a:ext cx="438912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84832" y="359359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-  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11680" y="39776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API 경로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11680" y="4233672"/>
            <a:ext cx="438912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84832" y="42336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/internal/token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11680" y="46177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순위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0" y="4873752"/>
            <a:ext cx="438912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84832" y="48737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75120" y="20574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명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75120" y="2313432"/>
            <a:ext cx="49377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231343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SVC-APIGW-TOKEN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0" y="26974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대상 서비스 포트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675120" y="2953512"/>
            <a:ext cx="49377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48272" y="295351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28081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75120" y="33375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사용 여부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75120" y="3593592"/>
            <a:ext cx="1234440" cy="29260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35935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● 사용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75120" y="39776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설명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675120" y="4233672"/>
            <a:ext cx="493776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48272" y="42336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토큰 발급 내부 API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920240" y="4736592"/>
            <a:ext cx="9921240" cy="292608"/>
          </a:xfrm>
          <a:prstGeom prst="rect">
            <a:avLst/>
          </a:prstGeom>
          <a:solidFill>
            <a:srgbClr val="EEF2F8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0" y="4736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라우팅 상세 조건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011680" y="5093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타입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011680" y="5330952"/>
            <a:ext cx="228600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66544" y="5330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Path  ▼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462272" y="5093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오퍼레이션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62272" y="5330952"/>
            <a:ext cx="228600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17136" y="5330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Match  ▼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12864" y="5093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속성명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912864" y="5330952"/>
            <a:ext cx="228600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67728" y="5330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/internal/**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363456" y="5093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속성값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363456" y="5330952"/>
            <a:ext cx="2286000" cy="292608"/>
          </a:xfrm>
          <a:prstGeom prst="rect">
            <a:avLst/>
          </a:prstGeom>
          <a:solidFill>
            <a:srgbClr val="FAFAFA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18320" y="5330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920240" y="5687568"/>
            <a:ext cx="9921240" cy="411480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11680" y="5687568"/>
            <a:ext cx="9738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</a:rPr>
              <a:t>Path + Match + /internal/** → /internal/ 하위 모든 경로 매칭  |  조건 복수 추가 시 AND 적용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0058400" y="6217920"/>
            <a:ext cx="155448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058400" y="6217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저장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458200" y="6217920"/>
            <a:ext cx="1508760" cy="32004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58200" y="6217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삭제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관리 콘솔 UI — API 요청 이력 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실시간 API 요청 로그 · 상태코드 · 응답시간 · 라우팅 경로 추적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1640312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33272"/>
            <a:ext cx="146304" cy="146304"/>
          </a:xfrm>
          <a:prstGeom prst="rect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033272"/>
            <a:ext cx="146304" cy="146304"/>
          </a:xfrm>
          <a:prstGeom prst="rect">
            <a:avLst/>
          </a:prstGeom>
          <a:solidFill>
            <a:srgbClr val="00AA00"/>
          </a:solidFill>
          <a:ln w="12700">
            <a:solidFill>
              <a:srgbClr val="00A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033272"/>
            <a:ext cx="146304" cy="14630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0058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http://gateway-console:3000/api-gateway/api-request-history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554480" cy="5257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APIGW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콘솔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99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서비스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라우팅 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155448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93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API 요청 이력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443984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4398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접속 이력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5248656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2486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서킷브레이크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1298448"/>
            <a:ext cx="9921240" cy="52395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1344168"/>
            <a:ext cx="2286000" cy="347472"/>
          </a:xfrm>
          <a:prstGeom prst="rect">
            <a:avLst/>
          </a:prstGeom>
          <a:solidFill>
            <a:srgbClr val="1A3A5C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API 요청 이력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1344168"/>
            <a:ext cx="2286000" cy="347472"/>
          </a:xfrm>
          <a:prstGeom prst="rect">
            <a:avLst/>
          </a:prstGeom>
          <a:solidFill>
            <a:srgbClr val="E2E8F0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접속 이력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20840" y="1344168"/>
            <a:ext cx="2286000" cy="347472"/>
          </a:xfrm>
          <a:prstGeom prst="rect">
            <a:avLst/>
          </a:prstGeom>
          <a:solidFill>
            <a:srgbClr val="E2E8F0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서킷브레이크 이력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574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API 요청 이력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1801368"/>
            <a:ext cx="1371600" cy="256032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1801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상태: 전체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189720" y="1801368"/>
            <a:ext cx="1371600" cy="256032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1801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최근 1시간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607040" y="1801368"/>
            <a:ext cx="132588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0" y="18013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조회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965960" y="2121408"/>
            <a:ext cx="98298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212140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시각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19272" y="212140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Method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050792" y="21214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 경로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31152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서비스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668512" y="212140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상태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400032" y="21214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응답시간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360152" y="21214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965960" y="2441448"/>
            <a:ext cx="9829800" cy="374904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2459736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14:32:01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19272" y="2478024"/>
            <a:ext cx="64008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9272" y="24780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050792" y="245973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/entities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31152" y="2459736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DH-DATASERVICE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668512" y="2478024"/>
            <a:ext cx="640080" cy="256032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68512" y="24780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200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400032" y="245973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38ms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360152" y="2459736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222.107.32.66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965960" y="2834640"/>
            <a:ext cx="9829800" cy="374904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0" y="2852928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319272" y="2871216"/>
            <a:ext cx="640080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9272" y="28712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050792" y="285292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/api/ingest/{dataModelId}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31152" y="2852928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DH-DATAINGEST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668512" y="2871216"/>
            <a:ext cx="640080" cy="256032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68512" y="28712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201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400032" y="285292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124ms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0360152" y="2852928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10.0.1.8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965960" y="3227832"/>
            <a:ext cx="9829800" cy="374904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11680" y="3246120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14:31:58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319272" y="3264408"/>
            <a:ext cx="64008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19272" y="3264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050792" y="32461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/datamodels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931152" y="324612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DH-DATAMANAGER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668512" y="3264408"/>
            <a:ext cx="640080" cy="256032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68512" y="3264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200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9400032" y="324612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42ms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360152" y="3246120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222.107.32.66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965960" y="3621024"/>
            <a:ext cx="9829800" cy="374904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011680" y="3639312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14:31:55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319272" y="3657600"/>
            <a:ext cx="64008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19272" y="3657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050792" y="3639312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/subscriptions/{id}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931152" y="3639312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DH-DATASERVICE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668512" y="3657600"/>
            <a:ext cx="640080" cy="256032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68512" y="3657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200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9400032" y="363931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67ms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0360152" y="3639312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10.0.2.3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965960" y="4014216"/>
            <a:ext cx="9829800" cy="374904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011680" y="4032504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14:31:52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319272" y="4050792"/>
            <a:ext cx="640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19272" y="4050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PATCH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050792" y="403250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/subscriptions/{id}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931152" y="4032504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DH-DATASERVICE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668512" y="4050792"/>
            <a:ext cx="640080" cy="256032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668512" y="4050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200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400032" y="40325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89ms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10360152" y="4032504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10.0.2.3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965960" y="4407408"/>
            <a:ext cx="9829800" cy="374904"/>
          </a:xfrm>
          <a:prstGeom prst="rect">
            <a:avLst/>
          </a:prstGeom>
          <a:solidFill>
            <a:srgbClr val="FFF5F5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011680" y="4425696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14:31:48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3319272" y="4443984"/>
            <a:ext cx="64008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319272" y="44439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4050792" y="442569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/temporal/entities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931152" y="4425696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DH-DATASERVICE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8668512" y="4443984"/>
            <a:ext cx="640080" cy="256032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668512" y="44439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500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9400032" y="442569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—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10360152" y="4425696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222.107.32.66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965960" y="4800600"/>
            <a:ext cx="9829800" cy="374904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011680" y="4818888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14:31:45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3319272" y="4837176"/>
            <a:ext cx="64008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319272" y="4837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4050792" y="481888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/datasets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931152" y="4818888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DH-DATAMANAGER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8668512" y="4837176"/>
            <a:ext cx="640080" cy="256032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668512" y="4837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200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9400032" y="48188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55ms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10360152" y="4818888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10.0.1.8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965960" y="5193792"/>
            <a:ext cx="9829800" cy="374904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011680" y="5212080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14:31:40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3319272" y="5230368"/>
            <a:ext cx="640080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319272" y="52303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DELETE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050792" y="521208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/subscriptions/{id}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6931152" y="521208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DH-DATASERVICE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8668512" y="5230368"/>
            <a:ext cx="640080" cy="256032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668512" y="52303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204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9400032" y="521208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31ms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10360152" y="5212080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10.0.2.3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965960" y="5605272"/>
            <a:ext cx="9829800" cy="25603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965960" y="5605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&lt; 1  2  3 &gt;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1965960" y="5916168"/>
            <a:ext cx="9829800" cy="548640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057400" y="5916168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500 응답은 빨간색으로 강조 표시  |  서비스별 · 상태코드별 필터 지원  |  특정 IP의 요청 패턴 추적 가능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관리 콘솔 UI — 접속 이력 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콘솔 접속 이력 · API 요청 이력 · 서킷브레이크 이력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1640312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33272"/>
            <a:ext cx="146304" cy="146304"/>
          </a:xfrm>
          <a:prstGeom prst="rect">
            <a:avLst/>
          </a:prstGeom>
          <a:solidFill>
            <a:srgbClr val="EE5555"/>
          </a:solidFill>
          <a:ln w="12700">
            <a:solidFill>
              <a:srgbClr val="EE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033272"/>
            <a:ext cx="146304" cy="146304"/>
          </a:xfrm>
          <a:prstGeom prst="rect">
            <a:avLst/>
          </a:prstGeom>
          <a:solidFill>
            <a:srgbClr val="00AA00"/>
          </a:solidFill>
          <a:ln w="12700">
            <a:solidFill>
              <a:srgbClr val="00A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033272"/>
            <a:ext cx="146304" cy="14630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0058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http://gateway-console:3000/api-gateway/access-history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554480" cy="5257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APIGW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콘솔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99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서비스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라우팅 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93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API 요청 이력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443984"/>
            <a:ext cx="155448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4398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접속 이력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5248656"/>
            <a:ext cx="1554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2486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서킷브레이크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1298448"/>
            <a:ext cx="9921240" cy="52395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1344168"/>
            <a:ext cx="2286000" cy="347472"/>
          </a:xfrm>
          <a:prstGeom prst="rect">
            <a:avLst/>
          </a:prstGeom>
          <a:solidFill>
            <a:srgbClr val="E2E8F0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API 요청 이력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1344168"/>
            <a:ext cx="2286000" cy="347472"/>
          </a:xfrm>
          <a:prstGeom prst="rect">
            <a:avLst/>
          </a:prstGeom>
          <a:solidFill>
            <a:srgbClr val="1A3A5C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접속 이력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20840" y="1344168"/>
            <a:ext cx="2286000" cy="347472"/>
          </a:xfrm>
          <a:prstGeom prst="rect">
            <a:avLst/>
          </a:prstGeom>
          <a:solidFill>
            <a:srgbClr val="E2E8F0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서킷브레이크 이력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574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접속 이력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965960" y="2148840"/>
            <a:ext cx="982980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순번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21488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접속 일시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97680" y="2148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아이디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715000" y="21488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23760" y="21488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만료 일시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961120" y="21488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상태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149840" y="21488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비고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965960" y="2487168"/>
            <a:ext cx="98298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2514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560320" y="2514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2025-12-11 10:41:08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97680" y="2514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pinecni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15000" y="2514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222.107.32.66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223760" y="2514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2025-12-11 12:21:08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961120" y="2542032"/>
            <a:ext cx="105156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0" y="2542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정상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149840" y="2514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965960" y="2926080"/>
            <a:ext cx="9829800" cy="402336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0" y="2953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49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60320" y="2953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2025-12-04 09:11:21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297680" y="29535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pinecni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15000" y="29535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222.107.32.66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223760" y="2953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2025-12-11 07:51:21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961120" y="2980944"/>
            <a:ext cx="105156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61120" y="29809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정상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149840" y="2953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965960" y="3364992"/>
            <a:ext cx="98298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11680" y="33924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48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560320" y="33924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2025-12-03 20:48:01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297680" y="3392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pinecni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715000" y="33924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222.107.32.66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223760" y="33924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2025-12-04 06:48:01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961120" y="3419856"/>
            <a:ext cx="105156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61120" y="34198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정상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149840" y="33924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965960" y="3803904"/>
            <a:ext cx="9829800" cy="402336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11680" y="38313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47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560320" y="38313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2025-12-03 20:34:24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297680" y="38313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pinecni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715000" y="38313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222.107.32.66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223760" y="38313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2025-12-04 06:34:24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961120" y="3858768"/>
            <a:ext cx="105156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61120" y="3858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정상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149840" y="38313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965960" y="4242816"/>
            <a:ext cx="98298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011680" y="4270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46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560320" y="42702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2025-12-01 15:03:45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297680" y="4270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pinecni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715000" y="42702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222.107.32.66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223760" y="42702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2025-12-02 01:03:45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961120" y="4297680"/>
            <a:ext cx="105156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61120" y="4297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정상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0149840" y="42702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965960" y="4681728"/>
            <a:ext cx="9829800" cy="402336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011680" y="4709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45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2560320" y="4709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2025-11-20 13:48:02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297680" y="4709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pinecni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715000" y="4709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223760" y="4709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2025-11-20 23:48:02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961120" y="4736592"/>
            <a:ext cx="105156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61120" y="4736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정상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149840" y="4709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내부 접속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965960" y="5166360"/>
            <a:ext cx="9829800" cy="25603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965960" y="5166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</a:rPr>
              <a:t>&lt; 1  2 &gt;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965960" y="5486400"/>
            <a:ext cx="9829800" cy="475488"/>
          </a:xfrm>
          <a:prstGeom prst="rect">
            <a:avLst/>
          </a:prstGeom>
          <a:solidFill>
            <a:srgbClr val="F4F8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057400" y="5486400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관리자 접속 이력 감사(Audit) 목적  |  IP · 접속 일시 · 만료 일시 추적 가능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F30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정리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8EA"/>
                </a:solidFill>
              </a:rPr>
              <a:t>Spring Cloud Gateway로 달성한 4가지 핵심 가치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3840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단일 진입점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999232"/>
            <a:ext cx="2377440" cy="0"/>
          </a:xfrm>
          <a:prstGeom prst="line">
            <a:avLst/>
          </a:prstGeom>
          <a:noFill/>
          <a:ln w="19050">
            <a:solidFill>
              <a:srgbClr val="4A7A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090672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모든 요청이 Gateway(:28081)를 통과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포트·인증 복잡성 제거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클라이언트 코드 단순화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51760" cy="3840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⊞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라우팅 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29000" y="2999232"/>
            <a:ext cx="2377440" cy="0"/>
          </a:xfrm>
          <a:prstGeom prst="line">
            <a:avLst/>
          </a:prstGeom>
          <a:noFill/>
          <a:ln w="19050">
            <a:solidFill>
              <a:srgbClr val="4A7A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3090672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6개 서비스 · 라우팅 룰 DB 관리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CONFIG · MANUAL 타입 분리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실제 운영 중인 API 경로 매핑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3840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⟷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로드밸런싱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2999232"/>
            <a:ext cx="2377440" cy="0"/>
          </a:xfrm>
          <a:prstGeom prst="line">
            <a:avLst/>
          </a:prstGeom>
          <a:noFill/>
          <a:ln w="19050">
            <a:solidFill>
              <a:srgbClr val="4A7A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3090672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Consul 기반 서비스 디스커버리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Round-Robin 자동 분산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장애 인스턴스 자동 제외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0" y="1828800"/>
            <a:ext cx="2651760" cy="3840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◎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6112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무중단 서비스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98280" y="2999232"/>
            <a:ext cx="2377440" cy="0"/>
          </a:xfrm>
          <a:prstGeom prst="line">
            <a:avLst/>
          </a:prstGeom>
          <a:noFill/>
          <a:ln w="19050">
            <a:solidFill>
              <a:srgbClr val="4A7A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0848" y="3090672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콘솔 UI에서 라우트 추가/삭제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Redis 저장 → 즉시 반영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0FF"/>
                </a:solidFill>
              </a:rPr>
              <a:t>재시작 없이 0ms 다운타임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58978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CAE"/>
                </a:solidFill>
              </a:rPr>
              <a:t>관리 콘솔 UI (로그인·서비스·라우팅룰·이력조회)  ·  Consul  ·  Redis  ·  PostgreSQL  ·  외부 인증 연동 준비 완료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[부록]  확장 가능 기능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이미 구현 완료 · 운영 정책 결정 후 즉시 활성화 가능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326880" y="182880"/>
            <a:ext cx="265176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182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추가 개발 불필요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562356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56235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6012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Rate Limiting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목적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특정 IP 또는 클라이언트가 단시간에 과도한 요청을 보낼 경우 차단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DDoS 방어 · 서비스 과부하 방지 · 임계값 초과 시 429 Too Many Requests 반환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등급별 제한 기준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5440680" cy="493776"/>
          </a:xfrm>
          <a:prstGeom prst="rect">
            <a:avLst/>
          </a:prstGeom>
          <a:solidFill>
            <a:srgbClr val="FEF3C7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07792"/>
            <a:ext cx="1920240" cy="4937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0779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내부 시스템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29077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5,000 req/분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544068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74720"/>
            <a:ext cx="1920240" cy="4937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747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파트너 API Key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31720" y="34747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1,000 req/분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5440680" cy="493776"/>
          </a:xfrm>
          <a:prstGeom prst="rect">
            <a:avLst/>
          </a:prstGeom>
          <a:solidFill>
            <a:srgbClr val="FEF3C7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41648"/>
            <a:ext cx="1920240" cy="4937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4164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일반 API Key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31720" y="404164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300 req/분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608576"/>
            <a:ext cx="544068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608576"/>
            <a:ext cx="1920240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0857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미인증 IP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460857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60 req/분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5230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활성화: rate-limit.enabled: true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91072" y="960120"/>
            <a:ext cx="562356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960120"/>
            <a:ext cx="562356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96012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서킷브레이크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73952" y="1444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목적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73952" y="175564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백엔드 서비스 장애 시 Gateway에서 빠른 실패(Fail Fast)로 연쇄 장애 차단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장애 서비스 자동 격리 → fallback 응답 → 회복 후 자동 복귀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73952" y="25786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상태 전이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73952" y="2944368"/>
            <a:ext cx="1508760" cy="6583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29443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CLOSED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0" y="29443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정상 상태 · 모든 요청 통과 · 실패율 누적 감시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73952" y="3749040"/>
            <a:ext cx="1508760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7490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3749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임계값 초과 · 요청 차단 → fallback 응답 즉시 반환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73952" y="4553712"/>
            <a:ext cx="150876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455371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HALF-OPEN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46720" y="45537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일부 요청 허용 → 성공 시 CLOSED 복귀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73952" y="54681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콘솔에서 이력 확인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73952" y="57790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서킷브레이크 이력 탭: 발동 횟수 · 대상 서비스 · 발생 시각 조회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73952" y="6144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활성화: resilience4j 설정 추가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2026-06-17T02:48:54Z</dcterms:created>
  <dcterms:modified xsi:type="dcterms:W3CDTF">2026-06-17T02:48:54Z</dcterms:modified>
</cp:coreProperties>
</file>