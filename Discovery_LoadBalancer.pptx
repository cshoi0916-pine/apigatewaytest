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F30"/>
          </a:solidFill>
          <a:ln w="12700">
            <a:solidFill>
              <a:srgbClr val="0F1F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1371600"/>
            <a:ext cx="9445752" cy="4114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1371600"/>
            <a:ext cx="9445752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691640"/>
            <a:ext cx="944575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서비스 디스커버리</a:t>
            </a:r>
            <a:endParaRPr lang="en-US" sz="4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&amp; 로드밸런싱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371600" y="352044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D8EA"/>
                </a:solidFill>
              </a:rPr>
              <a:t>상사 질문 대응 · 직접 구현 방안 · 성능 전략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0" y="4114800"/>
            <a:ext cx="5788152" cy="182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4279392"/>
            <a:ext cx="228600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42793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Consul 자동등록이란?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0" y="4279392"/>
            <a:ext cx="1554480" cy="2926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42793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Static LB란?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06640" y="4279392"/>
            <a:ext cx="1554480" cy="2926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0" y="42793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직접 구현 방안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4983480"/>
            <a:ext cx="9445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8CAE"/>
                </a:solidFill>
              </a:rPr>
              <a:t>광역 데이터허브 (PINE) — API 관리 플랫폼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887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Static LB vs Dynamic LB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</a:rPr>
              <a:t>두 방식 비교 · nginx와의 관계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5577840" cy="566928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5577840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1440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Static LB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서버 주소를 설정 파일에 직접 입력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5212080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828800"/>
            <a:ext cx="4937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spring: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cloud: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loadbalancer: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instances: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data-service: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- uri: http://10.0.0.1:8080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- uri: http://10.0.0.2:8080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5212080" cy="475488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502152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D97706"/>
                </a:solidFill>
              </a:rPr>
              <a:t>nginx upstream 설정과 동일한 개념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D97706"/>
                </a:solidFill>
              </a:rPr>
              <a:t>→ 외부 도구 아닌 Spring Cloud 내장 기능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40507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</a:rPr>
              <a:t>한계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407408"/>
            <a:ext cx="256032" cy="25603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407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✗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" y="4407408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서버 추가/제거 시 파일 수정 + 재시작 필요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4910328"/>
            <a:ext cx="256032" cy="25603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910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✗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4672" y="4910328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죽은 서버 자동 감지 불가 — 헬스체크 없음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5413248"/>
            <a:ext cx="256032" cy="25603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5413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✗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4672" y="5413248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자동등록 불가 — 서버 위치를 직접 알아야 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62472" y="914400"/>
            <a:ext cx="5852160" cy="566928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62472" y="914400"/>
            <a:ext cx="5852160" cy="4114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62472" y="91440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Dynamic LB (서비스 레지스트리)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45352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레지스트리가 서버 목록을 자동으로 관리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45352" y="1828800"/>
            <a:ext cx="548640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45352" y="182880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  서비스 시작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714232" y="245059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803D"/>
                </a:solidFill>
              </a:rPr>
              <a:t>↓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45352" y="2633472"/>
            <a:ext cx="5486400" cy="5943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45352" y="2633472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  Consul에 자동 등록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714232" y="325526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803D"/>
                </a:solidFill>
              </a:rPr>
              <a:t>↓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45352" y="3438144"/>
            <a:ext cx="5486400" cy="59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45352" y="3438144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  헬스체크 자동화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714232" y="405993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803D"/>
                </a:solidFill>
              </a:rPr>
              <a:t>↓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45352" y="4242816"/>
            <a:ext cx="5486400" cy="594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45352" y="4242816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  Gateway → 목록 조회 → 라우팅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45352" y="5120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</a:rPr>
              <a:t>장점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45352" y="5468112"/>
            <a:ext cx="256032" cy="25603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45352" y="54681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592824" y="5468112"/>
            <a:ext cx="5504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서버 자동 등록 · 자동 해제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45352" y="5852160"/>
            <a:ext cx="256032" cy="25603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45352" y="5852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592824" y="5852160"/>
            <a:ext cx="5504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헬스체크로 장애 서버 자동 제외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245352" y="6236208"/>
            <a:ext cx="256032" cy="25603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45352" y="6236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592824" y="6236208"/>
            <a:ext cx="5504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재시작 없이 확장/축소 가능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887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Consul 자동등록 메커니즘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</a:rPr>
              <a:t>라이브러리 추가 + 설정 한 줄 → 나머지는 자동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92024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0058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서비스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시작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40280" y="1298448"/>
            <a:ext cx="411480" cy="256032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51760" y="1005840"/>
            <a:ext cx="1920240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51760" y="10058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Application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ReadyEvent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17720" y="1298448"/>
            <a:ext cx="411480" cy="256032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1005840"/>
            <a:ext cx="1920240" cy="9144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10058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Consul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등록 API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95160" y="1298448"/>
            <a:ext cx="411480" cy="256032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06640" y="1005840"/>
            <a:ext cx="1920240" cy="9144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06640" y="10058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Consul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헬스체크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372600" y="1298448"/>
            <a:ext cx="411480" cy="256032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784080" y="1005840"/>
            <a:ext cx="1920240" cy="9144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784080" y="10058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Gateway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라우팅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2057400"/>
            <a:ext cx="192024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210312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spring-cloud-starter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-consul-discovery 추가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설정 한 줄이면 끝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651760" y="2057400"/>
            <a:ext cx="192024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743200" y="210312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서비스 완전 준비 후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등록 시작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(뜨는 중 등록 방지)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0" y="2057400"/>
            <a:ext cx="192024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120640" y="210312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PUT /v1/agent/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service/register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자동 호출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406640" y="2057400"/>
            <a:ext cx="192024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498080" y="210312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10초마다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/actuator/health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실패 시 자동 제거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784080" y="2057400"/>
            <a:ext cx="192024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875520" y="210312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Consul에서 살아있는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서버 목록 조회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Round-Robin 분배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3566160"/>
            <a:ext cx="11640312" cy="457200"/>
          </a:xfrm>
          <a:prstGeom prst="rect">
            <a:avLst/>
          </a:prstGeom>
          <a:solidFill>
            <a:srgbClr val="FEE2E2"/>
          </a:solidFill>
          <a:ln w="19050">
            <a:solidFill>
              <a:srgbClr val="B91C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59359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</a:rPr>
              <a:t>종료 시 →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194560" y="3593592"/>
            <a:ext cx="9537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1C1C"/>
                </a:solidFill>
              </a:rPr>
              <a:t>@PreDestroy 실행  →  Consul 해제 요청  →  Gateway 목록에서 자동 제외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74320" y="4160520"/>
            <a:ext cx="11640312" cy="2468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22452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application.yml — 설정 한 줄로 자동등록 완성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544568"/>
            <a:ext cx="112745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spring: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cloud: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consul: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host: consul-server      # Consul 서버 주소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port: 8500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discovery: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service-name: data-service    # Gateway가 이 이름으로 찾음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health-check-path: /actuator/health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health-check-interval: 10s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887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Consul 도입의 한계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</a:rPr>
              <a:t>우리 조건에서 직접 구현을 선택한 이유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3703320" cy="4297680"/>
          </a:xfrm>
          <a:prstGeom prst="rect">
            <a:avLst/>
          </a:prstGeom>
          <a:solidFill>
            <a:srgbClr val="FEE2E2"/>
          </a:solidFill>
          <a:ln w="19050">
            <a:solidFill>
              <a:srgbClr val="B91C1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3703320" cy="4572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601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라이선스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148132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</a:rPr>
              <a:t>BSL 1.1 — 상업적 제한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828800"/>
            <a:ext cx="34290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2023년 8월</a:t>
            </a: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Apache 2.0 → BSL 1.1 변경</a:t>
            </a: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상업적 제품화 시</a:t>
            </a: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법무 검토 필요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51960" y="960120"/>
            <a:ext cx="3703320" cy="429768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960120"/>
            <a:ext cx="370332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1960" y="9601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내장 UI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389120" y="148132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별도 관리 화면 존재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0" y="1828800"/>
            <a:ext cx="34290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우리가 만든 콘솔 UI 외에</a:t>
            </a: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Consul 자체 UI 별도 존재</a:t>
            </a: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관리 포인트 분산</a:t>
            </a: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통합 운영 불가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0" y="960120"/>
            <a:ext cx="3703320" cy="4297680"/>
          </a:xfrm>
          <a:prstGeom prst="rect">
            <a:avLst/>
          </a:prstGeom>
          <a:solidFill>
            <a:srgbClr val="FEF3C7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0" y="960120"/>
            <a:ext cx="3703320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9601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별도 서버 / DB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66760" y="148132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</a:rPr>
              <a:t>외부 인프라 추가 필요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66760" y="1828800"/>
            <a:ext cx="34290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Consul 서버 별도 운영</a:t>
            </a: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자체 Raft 스토리지 사용</a:t>
            </a: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운영 복잡도 증가</a:t>
            </a: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장애 포인트 추가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41848" y="53492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3A5C"/>
                </a:solidFill>
              </a:rPr>
              <a:t>↓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1828800" y="5833872"/>
            <a:ext cx="8531352" cy="8046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828800" y="5833872"/>
            <a:ext cx="54864" cy="8046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65960" y="5833872"/>
            <a:ext cx="83941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세 조건 모두 충족 → 직접 구현 (Gateway 내장) 으로 전환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887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직접 구현 구조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</a:rPr>
              <a:t>Gateway 내장 · 외부 도구 없음 · 기존 DB + Redis 활용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74320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27432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601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서비스 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353312"/>
            <a:ext cx="24688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ApplicationReadyEvent → 자동 등록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@PreDestroy → 자동 해제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Heartbeat → 생존 신호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063240" y="1417320"/>
            <a:ext cx="640080" cy="256032"/>
          </a:xfrm>
          <a:prstGeom prst="rightArrow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331720"/>
            <a:ext cx="274320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331720"/>
            <a:ext cx="27432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3317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서비스 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2724912"/>
            <a:ext cx="24688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ApplicationReadyEvent → 자동 등록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@PreDestroy → 자동 해제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Heartbeat → 생존 신호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063240" y="2788920"/>
            <a:ext cx="640080" cy="256032"/>
          </a:xfrm>
          <a:prstGeom prst="rightArrow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703320"/>
            <a:ext cx="274320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703320"/>
            <a:ext cx="27432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7033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서비스 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4096512"/>
            <a:ext cx="24688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ApplicationReadyEvent → 자동 등록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@PreDestroy → 자동 해제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Heartbeat → 생존 신호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063240" y="4160520"/>
            <a:ext cx="640080" cy="256032"/>
          </a:xfrm>
          <a:prstGeom prst="rightArrow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49040" y="960120"/>
            <a:ext cx="466344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49040" y="960120"/>
            <a:ext cx="4663440" cy="411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9601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API Gateway (Registry 내장)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886200" y="1463040"/>
            <a:ext cx="4389120" cy="8229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86200" y="14630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자동 등록 수신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REST API 제공 · 서비스 목록 DB 저장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886200" y="2468880"/>
            <a:ext cx="4389120" cy="8229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86200" y="246888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헬스체크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Heartbeat + Active Polling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연속 실패 시 자동 제외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886200" y="3474720"/>
            <a:ext cx="438912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86200" y="34747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로드밸런싱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DB/Redis에서 목록 조회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Round-Robin 분배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86200" y="4480560"/>
            <a:ext cx="4389120" cy="8229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86200" y="448056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자동 복구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헬스체크 재개 시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목록 자동 복귀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458200" y="1920240"/>
            <a:ext cx="384048" cy="256032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58200" y="4114800"/>
            <a:ext cx="384048" cy="256032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887968" y="960120"/>
            <a:ext cx="3026664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887968" y="960120"/>
            <a:ext cx="3026664" cy="3657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887968" y="96012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Database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025128" y="1389888"/>
            <a:ext cx="2752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영속성 완전 보장 (Source of Truth)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9025128" y="1892808"/>
            <a:ext cx="2752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서비스 목록 · 라우팅 룰 원본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025128" y="2395728"/>
            <a:ext cx="2752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재시작 후 자동 복구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887968" y="3246120"/>
            <a:ext cx="3026664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887968" y="3246120"/>
            <a:ext cx="3026664" cy="3657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887968" y="324612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Redis (캐시)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025128" y="3675888"/>
            <a:ext cx="2752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요청마다 DB 조회 생략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9025128" y="4178808"/>
            <a:ext cx="2752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라우팅 룰 · 서비스 목록 캐시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9025128" y="4681728"/>
            <a:ext cx="2752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날아가도 DB에서 복구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74320" y="5806440"/>
            <a:ext cx="11640312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74320" y="5806440"/>
            <a:ext cx="11640312" cy="320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5806440"/>
            <a:ext cx="11640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헬스체크 메커니즘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47472" y="61447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Heartbeat (10초)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서비스 → Gateway 생존 신호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255264" y="61447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Active Polling (15초)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Gateway → /actuator/health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163056" y="61447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연속 3회 실패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→ 자동 제외 (오탐 방지)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9070848" y="61447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헬스체크 재개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→ 자동 복귀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887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Consul vs 직접 구현 — 전체 비교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</a:rPr>
              <a:t>라이선스 · 인프라 · 헬스체크 포함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11640312" cy="43891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914400"/>
            <a:ext cx="2990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비교 항목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01568" y="914400"/>
            <a:ext cx="3913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Consul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06640" y="914400"/>
            <a:ext cx="4507992" cy="43891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0" y="914400"/>
            <a:ext cx="4507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직접 구현 ✓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1399032"/>
            <a:ext cx="11640312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399032"/>
            <a:ext cx="2990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</a:rPr>
              <a:t>라이선스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01568" y="1399032"/>
            <a:ext cx="3867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91C1C"/>
                </a:solidFill>
              </a:rPr>
              <a:t>BSL 1.1 — 상업 제한 ✗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452360" y="1444752"/>
            <a:ext cx="4416552" cy="420624"/>
          </a:xfrm>
          <a:prstGeom prst="rect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0" y="1444752"/>
            <a:ext cx="4370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803D"/>
                </a:solidFill>
              </a:rPr>
              <a:t>Apache 2.0 — 완전 자유 ✓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1956816"/>
            <a:ext cx="11640312" cy="512064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1956816"/>
            <a:ext cx="2990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</a:rPr>
              <a:t>별도 서버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01568" y="1956816"/>
            <a:ext cx="3867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91C1C"/>
                </a:solidFill>
              </a:rPr>
              <a:t>Consul 서버 별도 운영 ✗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452360" y="2002536"/>
            <a:ext cx="4416552" cy="420624"/>
          </a:xfrm>
          <a:prstGeom prst="rect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0" y="2002536"/>
            <a:ext cx="4370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803D"/>
                </a:solidFill>
              </a:rPr>
              <a:t>없음 — Gateway에 내장 ✓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514600"/>
            <a:ext cx="11640312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514600"/>
            <a:ext cx="2990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</a:rPr>
              <a:t>내장 UI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01568" y="2514600"/>
            <a:ext cx="3867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91C1C"/>
                </a:solidFill>
              </a:rPr>
              <a:t>있음 — 관리 포인트 분산 ✗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452360" y="2560320"/>
            <a:ext cx="4416552" cy="420624"/>
          </a:xfrm>
          <a:prstGeom prst="rect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0" y="2560320"/>
            <a:ext cx="4370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803D"/>
                </a:solidFill>
              </a:rPr>
              <a:t>없음 — 우리 콘솔 통합 ✓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3072384"/>
            <a:ext cx="11640312" cy="512064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3072384"/>
            <a:ext cx="2990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</a:rPr>
              <a:t>영속성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01568" y="3072384"/>
            <a:ext cx="3867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7706"/>
                </a:solidFill>
              </a:rPr>
              <a:t>자체 Raft 스토리지 △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452360" y="3118104"/>
            <a:ext cx="4416552" cy="420624"/>
          </a:xfrm>
          <a:prstGeom prst="rect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0" y="3118104"/>
            <a:ext cx="4370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803D"/>
                </a:solidFill>
              </a:rPr>
              <a:t>기존 DB — 완전 보장 ✓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3630168"/>
            <a:ext cx="11640312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3630168"/>
            <a:ext cx="2990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</a:rPr>
              <a:t>헬스체크 방식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401568" y="3630168"/>
            <a:ext cx="3867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5803D"/>
                </a:solidFill>
              </a:rPr>
              <a:t>HTTP/TCP/Script 선택 ✓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452360" y="3675888"/>
            <a:ext cx="4416552" cy="420624"/>
          </a:xfrm>
          <a:prstGeom prst="rect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0" y="3675888"/>
            <a:ext cx="4370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803D"/>
                </a:solidFill>
              </a:rPr>
              <a:t>Heartbeat + Active Polling ✓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4187952"/>
            <a:ext cx="11640312" cy="512064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4187952"/>
            <a:ext cx="2990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</a:rPr>
              <a:t>헬스체크 판단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401568" y="4187952"/>
            <a:ext cx="3867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7706"/>
                </a:solidFill>
              </a:rPr>
              <a:t>1회 실패 즉시 DOWN △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452360" y="4233672"/>
            <a:ext cx="4416552" cy="420624"/>
          </a:xfrm>
          <a:prstGeom prst="rect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98080" y="4233672"/>
            <a:ext cx="4370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803D"/>
                </a:solidFill>
              </a:rPr>
              <a:t>연속 N회 실패 DOWN (커스텀) ✓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74320" y="4745736"/>
            <a:ext cx="11640312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4745736"/>
            <a:ext cx="2990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</a:rPr>
              <a:t>헬스체크 대상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401568" y="4745736"/>
            <a:ext cx="3867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7706"/>
                </a:solidFill>
              </a:rPr>
              <a:t>서버 HTTP 응답 여부 △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452360" y="4791456"/>
            <a:ext cx="4416552" cy="420624"/>
          </a:xfrm>
          <a:prstGeom prst="rect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98080" y="4791456"/>
            <a:ext cx="4370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803D"/>
                </a:solidFill>
              </a:rPr>
              <a:t>/actuator/health — DB·디스크 포함 ✓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74320" y="5303520"/>
            <a:ext cx="11640312" cy="512064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7472" y="5303520"/>
            <a:ext cx="2990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</a:rPr>
              <a:t>구현 비용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401568" y="5303520"/>
            <a:ext cx="3867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5803D"/>
                </a:solidFill>
              </a:rPr>
              <a:t>설정만으로 즉시 사용 ✓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452360" y="5349240"/>
            <a:ext cx="4416552" cy="420624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98080" y="5349240"/>
            <a:ext cx="4370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7706"/>
                </a:solidFill>
              </a:rPr>
              <a:t>직접 개발 필요 △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74320" y="5861304"/>
            <a:ext cx="11640312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7472" y="5861304"/>
            <a:ext cx="2990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</a:rPr>
              <a:t>검증 안정성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401568" y="5861304"/>
            <a:ext cx="3867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5803D"/>
                </a:solidFill>
              </a:rPr>
              <a:t>프로덕션 검증 완료 ✓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452360" y="5907024"/>
            <a:ext cx="4416552" cy="420624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98080" y="5907024"/>
            <a:ext cx="4370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7706"/>
                </a:solidFill>
              </a:rPr>
              <a:t>직접 검증 필요 △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887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DB + Redis 혼합 전략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</a:rPr>
              <a:t>영속성 + 성능 동시 해결 · 상사 우려 해소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11640312" cy="457200"/>
          </a:xfrm>
          <a:prstGeom prst="rect">
            <a:avLst/>
          </a:prstGeom>
          <a:solidFill>
            <a:srgbClr val="FEE2E2"/>
          </a:solidFill>
          <a:ln w="19050">
            <a:solidFill>
              <a:srgbClr val="B9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41832"/>
            <a:ext cx="11274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</a:rPr>
              <a:t>문제: DB만 사용 시 매 요청마다 DB 조회 → 고트래픽 시 병목 발생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481328"/>
            <a:ext cx="5394960" cy="2971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481328"/>
            <a:ext cx="5394960" cy="4114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481328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DB — 진실의 원천 (Source of Truth)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96596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• 영속성 완전 보장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459736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• Gateway 재시작해도 데이터 유지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95351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• 서비스 목록 · 라우팅 룰 원본 저장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447288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• Redis 장애 시 여기서 복구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733288" y="2606040"/>
            <a:ext cx="722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3A5C"/>
                </a:solidFill>
              </a:rPr>
              <a:t>↔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6519672" y="1481328"/>
            <a:ext cx="5394960" cy="2971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19672" y="1481328"/>
            <a:ext cx="5394960" cy="4114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9672" y="1481328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Redis — 캐시 레이어 (성능)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02552" y="196596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• 요청마다 DB 조회 생략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702552" y="2459736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• 라우팅 룰 · 서비스 목록 캐시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702552" y="295351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• 변경 시 캐시 무효화 → DB 재조회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702552" y="3447288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• 날아가도 DB에서 자동 복구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4590288"/>
            <a:ext cx="11640312" cy="18745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4636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</a:rPr>
              <a:t>요청 처리 흐름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983480"/>
            <a:ext cx="1920240" cy="1325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" y="4983480"/>
            <a:ext cx="1920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클라이언트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요청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423160" y="5504688"/>
            <a:ext cx="502920" cy="256032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14600" y="4983480"/>
            <a:ext cx="1920240" cy="13258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14600" y="4983480"/>
            <a:ext cx="1920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Redis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조회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480560" y="5504688"/>
            <a:ext cx="502920" cy="256032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0" y="4983480"/>
            <a:ext cx="1920240" cy="13258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572000" y="4983480"/>
            <a:ext cx="1920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캐시 HIT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즉시 반환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080760" y="5504688"/>
            <a:ext cx="457200" cy="256032"/>
          </a:xfrm>
          <a:prstGeom prst="rightArrow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83680" y="4983480"/>
            <a:ext cx="1920240" cy="1325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583680" y="4983480"/>
            <a:ext cx="1920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캐시 MISS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DB 조회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549640" y="5504688"/>
            <a:ext cx="320040" cy="256032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15400" y="4983480"/>
            <a:ext cx="2926080" cy="13258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915400" y="4983480"/>
            <a:ext cx="2926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Redis에 저장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다음 요청부터 HIT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" y="6473952"/>
            <a:ext cx="11640312" cy="338328"/>
          </a:xfrm>
          <a:prstGeom prst="rect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6501384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</a:rPr>
              <a:t>상사 우려 해소: "Redis는 캐시일 뿐 — 날아가도 DB 원본이 있어 데이터 손실 없음"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2026-06-19T04:24:23Z</dcterms:created>
  <dcterms:modified xsi:type="dcterms:W3CDTF">2026-06-19T04:24:23Z</dcterms:modified>
</cp:coreProperties>
</file>